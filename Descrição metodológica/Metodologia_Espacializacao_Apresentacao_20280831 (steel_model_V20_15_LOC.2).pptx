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502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97680"/>
            <a:ext cx="3108960" cy="3108960"/>
          </a:xfrm>
          <a:prstGeom prst="ellipse">
            <a:avLst/>
          </a:prstGeom>
          <a:solidFill>
            <a:srgbClr val="12300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OTIMIZAÇÃO DA SIDERURGIA BRASILEIRA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7452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Espacialização e localização endógena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 metodológico · versão consolidada V20_15_LOC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4160520"/>
            <a:ext cx="1005840" cy="45720"/>
          </a:xfrm>
          <a:prstGeom prst="roundRect">
            <a:avLst>
              <a:gd name="adj" fmla="val 40000"/>
            </a:avLst>
          </a:prstGeom>
          <a:solidFill>
            <a:srgbClr val="6FA9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434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orientação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Bruna Silveira Guimarães   ·   Orientação: Prof. Emílio Lèbre La Rovere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FB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PPE/COPPE/UFRJ   · 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apresentação cobre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1664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objetivo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24140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metodologia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43584" y="31638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da espacialização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de energéticos por estado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Minério e pelota, método do diferencial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43584" y="5413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geográfica das rotas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169164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16642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regional de sucata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44144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2441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12864" y="24140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DR-NG-CCS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319125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12864" y="316382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custos herdada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09360" y="394106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0936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12864" y="39136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do modelo e achados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09360" y="4690872"/>
            <a:ext cx="457200" cy="45720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0936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12864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em aberto para decisão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544068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912864" y="54132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 E OBJETIVO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custos nacionais a localização endógena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MILP, Pyomo com solver HiGHS, do parque siderúrgico brasileiro entre 2023 e 2050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produção, substituição tecnológica e expansão greenfield sob restrições de emissões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plantas integradas, cerca de 43 Mt/ano, oito rotas de produção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E4EEFA"/>
          </a:solidFill>
          <a:ln w="12700">
            <a:solidFill>
              <a:srgbClr val="C3D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1488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aqui, preços de energéticos uniformes no país, a localização não tinha conteúdo econômico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cada estado recebe preços próprios e diferenciais de minério e pelota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3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localização das novas plantas passa a ser decisão endógena do otimizador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50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integradas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4992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E7D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64992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≈43 Mt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5550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capacidade/ano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81344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181344" y="5550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7696" y="480060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997696" y="49651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2023–2050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55504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E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VISÃO GERAL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metodologia em um olhar</a:t>
            </a:r>
            <a:endParaRPr lang="en-US" sz="2700" dirty="0"/>
          </a:p>
        </p:txBody>
      </p:sp>
      <p:pic>
        <p:nvPicPr>
          <p:cNvPr id="4" name="Image 0" descr="/home/claude/build/flowbig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436" y="1463040"/>
            <a:ext cx="9784080" cy="55049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077689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pPr algn="ctr"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modelo central herdado.   </a:t>
            </a:r>
            <a:pPr algn="ctr" indent="0" marL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pPr algn="ctr"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camada locacional, a contribuição desta versão.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PRINCÍPIOS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princípios organizam a construção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Rastreabilidade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entrada numérica tem fonte oficial identificada e registrada na planilha de cálculo, com convenção de cores e registro de decisões atualizado a cada etapa.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205740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001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versus nível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fonte pública não corresponde ao preço industrial efetivo, usa-se apenas a razão entre estados, aplicada sobre o nível nacional já calibrado do modelo.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11312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31352" y="205740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313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85632" y="27889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do diferencial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custo de um insumo já está embutido na OPEX das rotas, soma-se apenas a diferença entre estados, nunca o custo cheio, o que evita dupla contagem.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CUSTOS POR ESTADO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energéticos com preço estadual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Energético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16916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da estrutura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394192" y="1691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148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Eletricidade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214884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ANEEL, tarifas A4 homologadas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1488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ponderada direta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E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715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Gás natural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27157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MME, Boletim do Gás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715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sobre o nível nacional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28269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 metalúrgico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82112" y="328269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Stat CIF + frete ferroviário ANTT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28269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mais adicional de frete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2F7E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84962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Óleo diesel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38496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ANP, revenda por UF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8496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sobre o nível nacional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16552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41655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Hidrogênio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182112" y="441655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Eletricidade por UF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441655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amortecida, α = 0,72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carvão vegetal permanece nacional e endógeno, representado por curva de oferta em patamares de custo, não por preço exógeno.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MINÉRIO E PELOTA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do diferencial e âncoras de custo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do minério já está embutido, em nível desconhecido, na OPEX das rotas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nível é idêntico entre estados, logo cancela em toda comparação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Soma-se apenas o diferencial observável, intensidade × diferença de preço frente à âncora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30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Minério comum  </a:t>
            </a:r>
            <a:pPr indent="0" marL="0">
              <a:buNone/>
            </a:pPr>
            <a:r>
              <a:rPr lang="en-US" sz="12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âncora Minas Gerais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0416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BF-BOF (carvão mineral, vegetal, CCS) e IBT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53712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62686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Pelota DR-grade  </a:t>
            </a:r>
            <a:pPr indent="0" marL="0">
              <a:buNone/>
            </a:pPr>
            <a:r>
              <a:rPr lang="en-US" sz="12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âncora Espírito Santo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37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DR-NG, DR-NG-CCS e DR-H₂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449824"/>
            <a:ext cx="5212080" cy="786384"/>
          </a:xfrm>
          <a:prstGeom prst="roundRect">
            <a:avLst>
              <a:gd name="adj" fmla="val 9302"/>
            </a:avLst>
          </a:prstGeom>
          <a:solidFill>
            <a:srgbClr val="E4EEFA"/>
          </a:solidFill>
          <a:ln w="12700">
            <a:solidFill>
              <a:srgbClr val="C3D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5229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  </a:t>
            </a:r>
            <a:pPr indent="0" marL="0">
              <a:buNone/>
            </a:pPr>
            <a:r>
              <a:rPr lang="en-US" sz="12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imune ao minério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8338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carrega termo de minério, diferencial locacional próprio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pic>
        <p:nvPicPr>
          <p:cNvPr id="15" name="Image 0" descr="/home/claude/build/fig2_diferen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86000"/>
            <a:ext cx="5120640" cy="2963549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09360" y="5386709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parcela embutida, idêntica entre estados, permanece intocada. Apenas os adicionais observáveis diferenciam as UFs.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ELEGIBILIDADE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rota pode ser construída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20624"/>
          </a:xfrm>
          <a:prstGeom prst="roundRect">
            <a:avLst>
              <a:gd name="adj" fmla="val 17391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645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24912" y="16459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Elegível, nova capacidade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164592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665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2066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BF-BOF-MC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20665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UFs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20665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comercializáveis, localização por custo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2F7E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523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BF-BOF-CC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2523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UFs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25312" y="25237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 vegetal por curva nacional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809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2980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24912" y="2980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UFs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2980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Minério comum, âncora de custo em MG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381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2F7E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724912" y="34381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 e Nordeste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25312" y="34381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 malha de gás natural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8953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DR-H₂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24912" y="38953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CE, PE, RN, PI, MA, RJ, ES, 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25312" y="38953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de hidrogênio anunciados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3525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4EEFA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3525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BF-BOF-CCS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724912" y="43525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MG, RJ, SP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25312" y="43525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Geologia de armazenamento de CO₂ (premissa)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8097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4EEFA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48097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DR-NG-CCS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724912" y="48097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ES, MG, RJ, SP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925312" y="48097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Interseção de gás e armazenamento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266944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2F7EC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669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EAF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724912" y="526694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veto, teto regional de sucata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925312" y="5266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regional de sucata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833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aplicam-se apenas a nova capacidade, sucessoras e greenfield. Plantas existentes operam onde já estão.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SUCATA REGIONAL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Restrição regional de sucata (Constraint D)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BEDE6"/>
          </a:solidFill>
          <a:ln w="12700">
            <a:solidFill>
              <a:srgbClr val="F0CD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teto nacional único deixava o modelo instalar forno elétrico em estados sem tradição siderúrgica, artefato observado na Paraíba, com cerca de 9.500 kt de EAF.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EAF2E2"/>
          </a:solidFill>
          <a:ln w="12700">
            <a:solidFill>
              <a:srgbClr val="C7DDB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correção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488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por macrorregião. A produção de EAF ponderada pelo coeficiente de sucata não pode exceder a fração regional do teto nacional. Fronteira rígida entre regiões.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63A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42900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(produção EAF na região) × 0,95   ≤   sucata nacional(y) × fração regional(g)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2121408" cy="1097280"/>
          </a:xfrm>
          <a:prstGeom prst="roundRect">
            <a:avLst>
              <a:gd name="adj" fmla="val 6667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4165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57,8%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9377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Sudeste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70632" y="4251960"/>
            <a:ext cx="2121408" cy="1097280"/>
          </a:xfrm>
          <a:prstGeom prst="roundRect">
            <a:avLst>
              <a:gd name="adj" fmla="val 6667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70632" y="44165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22,8%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2770632" y="49377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92624" y="4251960"/>
            <a:ext cx="2121408" cy="1097280"/>
          </a:xfrm>
          <a:prstGeom prst="roundRect">
            <a:avLst>
              <a:gd name="adj" fmla="val 6667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92624" y="44165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11,0%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4992624" y="49377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14616" y="4251960"/>
            <a:ext cx="2121408" cy="1097280"/>
          </a:xfrm>
          <a:prstGeom prst="roundRect">
            <a:avLst>
              <a:gd name="adj" fmla="val 6667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4616" y="44165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4,1%</a:t>
            </a:r>
            <a:endParaRPr lang="en-US" sz="2300" dirty="0"/>
          </a:p>
        </p:txBody>
      </p:sp>
      <p:sp>
        <p:nvSpPr>
          <p:cNvPr id="23" name="Text 21"/>
          <p:cNvSpPr txBox="1"/>
          <p:nvPr/>
        </p:nvSpPr>
        <p:spPr>
          <a:xfrm>
            <a:off x="7214616" y="49377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Centro-Oeste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36608" y="4251960"/>
            <a:ext cx="2121408" cy="1097280"/>
          </a:xfrm>
          <a:prstGeom prst="roundRect">
            <a:avLst>
              <a:gd name="adj" fmla="val 6667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36608" y="4416552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4,3%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9436608" y="493776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 do consumo aparente de aço, Instituto Aço Brasil. Home scrap não modelado, as rotas integradas têm coeficiente de sucata nulo.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NOVA ROTA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DR-NG-CCS, redução direta a gás com captura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926080" y="2011680"/>
            <a:ext cx="2743200" cy="2743200"/>
          </a:xfrm>
          <a:prstGeom prst="ellipse">
            <a:avLst/>
          </a:prstGeom>
          <a:solidFill>
            <a:srgbClr val="2E7D32">
              <a:alpha val="55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011680"/>
            <a:ext cx="2743200" cy="2743200"/>
          </a:xfrm>
          <a:prstGeom prst="ellipse">
            <a:avLst/>
          </a:prstGeom>
          <a:solidFill>
            <a:srgbClr val="1565C0">
              <a:alpha val="55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gás natural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9260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Geologia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D3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CCS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· MG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 · SP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herdada da DR-NG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herdada da BF-BOF-CCS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828800"/>
            <a:ext cx="3657600" cy="3657600"/>
          </a:xfrm>
          <a:prstGeom prst="roundRect">
            <a:avLst>
              <a:gd name="adj" fmla="val 2000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foi definida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423160"/>
            <a:ext cx="3246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nova, proveniente da linhagem-mãe do modelo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é a interseção de duas restrições que já existiam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 em ES, MG, RJ e SP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4709160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E4EEFA"/>
          </a:solidFill>
          <a:ln w="12700">
            <a:solidFill>
              <a:srgbClr val="C3D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470916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CCS = Sudeste a rever, ver pontos em aberto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ESTRUTURA HERDADA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Custos e restrições da linhagem-mãe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retrofit e greenfield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32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Separados e anualizados por CRF, cada um com o seu encargo próprio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79976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8576" y="1874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Contabilização por safra (vintage)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08576" y="2532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encargo de CAPEX é associado ao ano de instalação e amortizado ao longo da vida útil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11312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9912" y="1874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Fração fóssil máxima (Constraint I)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39912" y="253288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anual da fração fóssil do mix de energia, instrumento para cenários de maior ambição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86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Duração mínima de sucessoras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445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entradas de um único ano no processo de substituição tecnológica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79976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3886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 de cenários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45445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Nomeia as saídas por rótulo de cenário, preservando a rastreabilidade entre rodadas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11312" y="370332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4EEFA"/>
          </a:solidFill>
          <a:ln w="12700">
            <a:solidFill>
              <a:srgbClr val="C3D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39912" y="38862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Enxerto da camada locacional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454456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dimensão de estado atravessa a decisão de greenfield, inclusive vintage e Constraint 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ACHADOS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Comportamento do modelo, dois achados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2F7EC"/>
          </a:solidFill>
          <a:ln w="12700">
            <a:solidFill>
              <a:srgbClr val="DCE7D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Lock-in de carbono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frota BF-BOF a carvão mineral existente impede reduções agressivas de emissão no curto prazo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limite é físico, independe de custo ou de ambição de política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achado substantivo, não erro de modelagem, capturado pela ideia de trajetória de emissão mínima factível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BF3E4"/>
          </a:solidFill>
          <a:ln w="12700">
            <a:solidFill>
              <a:srgbClr val="EAD9B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66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Concentração na Bahia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demanda regionalizada, a capacidade nova migra para o estado de menor custo, litoral com carvão importado barato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cinturão siderúrgico tradicional, Minas Gerais, perde relevância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artefato do lado da demanda, não da oferta de sucata, e é escopo do segundo artigo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verificar antes, se as planilhas de custo por estado não atribuem à Bahia valores baixos demais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DECISÕES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em aberto para a reunião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E4EEFA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7465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 CCS = Sudeste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746504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174650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216712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elegibilidade de captura está amarrada ao Sudeste por hipótese de geologia. Bacias reais, offshore de Campos e Santos, onshore do Recôncavo na Bahia, mudariam a elegibilidade de BF-BOF-CCS e DR-NG-CCS.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301752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 </a:t>
            </a:r>
            <a:pPr indent="0" marL="0">
              <a:buNone/>
            </a:pPr>
            <a:r>
              <a:rPr lang="en-US" sz="11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Sudeste ou incorporar as bacias reais?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65392" y="17465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Nomenclatura dos cenários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16712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atual, Ref, Stab, Red e FR. Decisões de nomenclatura e enquadramento passam pelo orientador.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01752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 </a:t>
            </a:r>
            <a:pPr indent="0" marL="0">
              <a:buNone/>
            </a:pPr>
            <a:r>
              <a:rPr lang="en-US" sz="11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 nomenclatura e o enquadramento.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849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Carvão vegetal, dupla contagem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27024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faixas nacionais de custo foram concebidas como proxy geográfico. Com a geografia agora explícita nos custos por estado, manter as faixas pode contar a geografia duas vezes.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12064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 </a:t>
            </a:r>
            <a:pPr indent="0" marL="0">
              <a:buNone/>
            </a:pPr>
            <a:r>
              <a:rPr lang="en-US" sz="11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curva nacional ou revisar?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3EB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384962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Sucata, frações fixas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27024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frações regionais são fixas no ano de referência de 2024. A evolução até 2050 vem só do crescimento do envelope nacional.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5120640"/>
            <a:ext cx="4974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 </a:t>
            </a:r>
            <a:pPr indent="0" marL="0">
              <a:buNone/>
            </a:pPr>
            <a:r>
              <a:rPr lang="en-US" sz="1150" i="1" dirty="0">
                <a:solidFill>
                  <a:srgbClr val="1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 abordagem e o plano de sensibilidade.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PRÓXIMOS PASSOS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603504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depois desta reunião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Rodar o cenário de maior ambição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13969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Apertar a restrição de emissão, cenário MIT, e observar a resposta do modelo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9264" y="2395728"/>
            <a:ext cx="0" cy="365760"/>
          </a:xfrm>
          <a:prstGeom prst="line">
            <a:avLst/>
          </a:prstGeom>
          <a:noFill/>
          <a:ln w="19050">
            <a:solidFill>
              <a:srgbClr val="CBD9C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85800" y="2761488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61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157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de sensibilidade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723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Frações regionais de sucata, diferencial de pelota DR-grade e preços de energéticos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9264" y="3328416"/>
            <a:ext cx="0" cy="365760"/>
          </a:xfrm>
          <a:prstGeom prst="line">
            <a:avLst/>
          </a:prstGeom>
          <a:noFill/>
          <a:ln w="19050">
            <a:solidFill>
              <a:srgbClr val="CBD9C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85800" y="3694176"/>
            <a:ext cx="566928" cy="5669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6484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 o custo da Bahia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050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Fuel_Prices_State e Ore_Cost_State quanto a valores baixos demais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9264" y="4261104"/>
            <a:ext cx="0" cy="365760"/>
          </a:xfrm>
          <a:prstGeom prst="line">
            <a:avLst/>
          </a:prstGeom>
          <a:noFill/>
          <a:ln w="19050">
            <a:solidFill>
              <a:srgbClr val="CBD9C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85800" y="4626864"/>
            <a:ext cx="566928" cy="5669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6268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58114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Segundo artigo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Regionalização da demanda e siting ótimo das novas plantas de baixo carbono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Espacialização · V20_15_LOC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023360"/>
            <a:ext cx="4023360" cy="4023360"/>
          </a:xfrm>
          <a:prstGeom prst="ellipse">
            <a:avLst/>
          </a:prstGeom>
          <a:solidFill>
            <a:srgbClr val="1E50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ALINHAR HOJE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813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da reunião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651760"/>
            <a:ext cx="9875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 CCS = Sudeste, manter ou incorporar bacias reais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e enquadramento dos cenários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Carvão vegetal, curva nacional ou revisão geográfica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7F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Sucata, frações fixas e plano de sensibilidade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5577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2026-08-31T18:16:47Z</dcterms:created>
  <dcterms:modified xsi:type="dcterms:W3CDTF">2026-08-31T18:16:47Z</dcterms:modified>
</cp:coreProperties>
</file>